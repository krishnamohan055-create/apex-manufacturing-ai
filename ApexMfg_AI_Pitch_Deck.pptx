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ApexMfg AI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Intelligent Operations &amp; Industrial Efficiency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solidFill>
            <a:srgbClr val="131B2E"/>
          </a:solidFill>
          <a:ln>
            <a:solidFill>
              <a:srgbClr val="23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500">
                <a:solidFill>
                  <a:srgbClr val="CBD5E1"/>
                </a:solidFill>
              </a:defRPr>
            </a:pPr>
            <a:r>
              <a:t>Autonomous IoT Telemetry Anomaly Detection, Gemini-Powered Root Cause Analysis (RCA), and Multimodal Visual Quality Inspection.</a:t>
            </a:r>
          </a:p>
          <a:p>
            <a:pPr>
              <a:spcAft>
                <a:spcPts val="1200"/>
              </a:spcAft>
              <a:defRPr sz="1500">
                <a:solidFill>
                  <a:srgbClr val="CBD5E1"/>
                </a:solidFill>
              </a:defRPr>
            </a:pPr>
            <a:r>
              <a:t>• Google Cloud Run: Containerized serverless microservices &amp; API dashboard on port 8080</a:t>
            </a:r>
          </a:p>
          <a:p>
            <a:pPr>
              <a:spcAft>
                <a:spcPts val="1200"/>
              </a:spcAft>
              <a:defRPr sz="1500">
                <a:solidFill>
                  <a:srgbClr val="CBD5E1"/>
                </a:solidFill>
              </a:defRPr>
            </a:pPr>
            <a:r>
              <a:t>• Cloud Firestore: Real-time operational database for telemetry, incidents &amp; work orders</a:t>
            </a:r>
          </a:p>
          <a:p>
            <a:pPr>
              <a:spcAft>
                <a:spcPts val="1200"/>
              </a:spcAft>
              <a:defRPr sz="1500">
                <a:solidFill>
                  <a:srgbClr val="CBD5E1"/>
                </a:solidFill>
              </a:defRPr>
            </a:pPr>
            <a:r>
              <a:t>• Gemini 2.5 Flash / Pro: Multi-axis predictive RCA, RUL forecasting &amp; Multimodal Optical AOI</a:t>
            </a:r>
          </a:p>
          <a:p>
            <a:pPr>
              <a:spcAft>
                <a:spcPts val="1200"/>
              </a:spcAft>
              <a:defRPr sz="1500">
                <a:solidFill>
                  <a:srgbClr val="CBD5E1"/>
                </a:solidFill>
              </a:defRPr>
            </a:pPr>
            <a:r>
              <a:t>• Firebase: Role-Based Access Control (RBAC) across Plant Manager, Maintenance &amp; QA roles</a:t>
            </a:r>
          </a:p>
          <a:p>
            <a:pPr>
              <a:spcAft>
                <a:spcPts val="1200"/>
              </a:spcAft>
              <a:defRPr sz="1500">
                <a:solidFill>
                  <a:srgbClr val="CBD5E1"/>
                </a:solidFill>
              </a:defRPr>
            </a:pPr>
            <a:r>
              <a:t>Track: Manufacturing: Intelligent Operations &amp; Industrial Efficiency | Google Cloud 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01. The Industrial Manufacturing Challenge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Unplanned downtime costs manufacturers over $50B annually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solidFill>
            <a:srgbClr val="131B2E"/>
          </a:solidFill>
          <a:ln>
            <a:solidFill>
              <a:srgbClr val="23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500">
                <a:solidFill>
                  <a:srgbClr val="CBD5E1"/>
                </a:solidFill>
              </a:defRPr>
            </a:pPr>
            <a:r>
              <a:t>• $50B+ Annual Loss: Unplanned downtime costs industrial manufacturers over $260,000/hour.</a:t>
            </a:r>
          </a:p>
          <a:p>
            <a:pPr>
              <a:spcAft>
                <a:spcPts val="1200"/>
              </a:spcAft>
              <a:defRPr sz="1500">
                <a:solidFill>
                  <a:srgbClr val="CBD5E1"/>
                </a:solidFill>
              </a:defRPr>
            </a:pPr>
            <a:r>
              <a:t>• Siloed Sensor Data: Modern factories generate millions of IoT data points that sit unanalyzed.</a:t>
            </a:r>
          </a:p>
          <a:p>
            <a:pPr>
              <a:spcAft>
                <a:spcPts val="1200"/>
              </a:spcAft>
              <a:defRPr sz="1500">
                <a:solidFill>
                  <a:srgbClr val="CBD5E1"/>
                </a:solidFill>
              </a:defRPr>
            </a:pPr>
            <a:r>
              <a:t>• Manual Root Cause Delay: Technicians spend 2-4 hours manually cross-referencing OEM manuals, inflating MTTR.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02. The Solution: ApexMfg AI Platform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Real-time intelligent closed-loop factory 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solidFill>
            <a:srgbClr val="131B2E"/>
          </a:solidFill>
          <a:ln>
            <a:solidFill>
              <a:srgbClr val="23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500">
                <a:solidFill>
                  <a:srgbClr val="CBD5E1"/>
                </a:solidFill>
              </a:defRPr>
            </a:pPr>
            <a:r>
              <a:t>• Live Fleet Digital Twin: Real-time vibration, thermal, and pressure streams synced to Cloud Firestore.</a:t>
            </a:r>
          </a:p>
          <a:p>
            <a:pPr>
              <a:spcAft>
                <a:spcPts val="1200"/>
              </a:spcAft>
              <a:defRPr sz="1500">
                <a:solidFill>
                  <a:srgbClr val="CBD5E1"/>
                </a:solidFill>
              </a:defRPr>
            </a:pPr>
            <a:r>
              <a:t>• Gemini Cognitive RCA: Sub-2 second Root Cause Analysis, Remaining Useful Life (RUL) estimation, and OSHA SOPs.</a:t>
            </a:r>
          </a:p>
          <a:p>
            <a:pPr>
              <a:spcAft>
                <a:spcPts val="1200"/>
              </a:spcAft>
              <a:defRPr sz="1500">
                <a:solidFill>
                  <a:srgbClr val="CBD5E1"/>
                </a:solidFill>
              </a:defRPr>
            </a:pPr>
            <a:r>
              <a:t>• Multimodal Visual AOI: Automated Optical Inspection using Gemini Vision to detect weld porosity and micro-cracks.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03. Google Cloud Architecture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End-to-end integration of Google Cloud &amp; Gemini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solidFill>
            <a:srgbClr val="131B2E"/>
          </a:solidFill>
          <a:ln>
            <a:solidFill>
              <a:srgbClr val="23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500">
                <a:solidFill>
                  <a:srgbClr val="CBD5E1"/>
                </a:solidFill>
              </a:defRPr>
            </a:pPr>
            <a:r>
              <a:t>• Cloud Run: Containerized microservices on port 8080 with auto-scaling elasticity.</a:t>
            </a:r>
          </a:p>
          <a:p>
            <a:pPr>
              <a:spcAft>
                <a:spcPts val="1200"/>
              </a:spcAft>
              <a:defRPr sz="1500">
                <a:solidFill>
                  <a:srgbClr val="CBD5E1"/>
                </a:solidFill>
              </a:defRPr>
            </a:pPr>
            <a:r>
              <a:t>• Cloud Firestore: Real-time NoSQL document ledger for telemetry, incidents, and work orders.</a:t>
            </a:r>
          </a:p>
          <a:p>
            <a:pPr>
              <a:spcAft>
                <a:spcPts val="1200"/>
              </a:spcAft>
              <a:defRPr sz="1500">
                <a:solidFill>
                  <a:srgbClr val="CBD5E1"/>
                </a:solidFill>
              </a:defRPr>
            </a:pPr>
            <a:r>
              <a:t>• Gemini 2.5 Flash: Cognitive intelligence for predictive physics RCA and computer vision defect analysis.</a:t>
            </a:r>
          </a:p>
          <a:p>
            <a:pPr>
              <a:spcAft>
                <a:spcPts val="1200"/>
              </a:spcAft>
              <a:defRPr sz="1500">
                <a:solidFill>
                  <a:srgbClr val="CBD5E1"/>
                </a:solidFill>
              </a:defRPr>
            </a:pPr>
            <a:r>
              <a:t>• Firebase Auth: Role-Based Access Control securing operations across plant floor personas.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04. Closed-Loop Autonomous Workflow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From raw sensor anomaly to technician dispatch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solidFill>
            <a:srgbClr val="131B2E"/>
          </a:solidFill>
          <a:ln>
            <a:solidFill>
              <a:srgbClr val="23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500">
                <a:solidFill>
                  <a:srgbClr val="CBD5E1"/>
                </a:solidFill>
              </a:defRPr>
            </a:pPr>
            <a:r>
              <a:t>1. Telemetry Ingestion: Sensors stream vibration, temperature, and pressure into Cloud Run and Firestore.</a:t>
            </a:r>
          </a:p>
          <a:p>
            <a:pPr>
              <a:spcAft>
                <a:spcPts val="1200"/>
              </a:spcAft>
              <a:defRPr sz="1500">
                <a:solidFill>
                  <a:srgbClr val="CBD5E1"/>
                </a:solidFill>
              </a:defRPr>
            </a:pPr>
            <a:r>
              <a:t>2. Anomaly Detection: Threshold breaches trigger real-time incident document generation in Firestore.</a:t>
            </a:r>
          </a:p>
          <a:p>
            <a:pPr>
              <a:spcAft>
                <a:spcPts val="1200"/>
              </a:spcAft>
              <a:defRPr sz="1500">
                <a:solidFill>
                  <a:srgbClr val="CBD5E1"/>
                </a:solidFill>
              </a:defRPr>
            </a:pPr>
            <a:r>
              <a:t>3. Gemini RCA: Gemini analyzes harmonic frequencies, pinpoints bearing spalling, and calculates RUL.</a:t>
            </a:r>
          </a:p>
          <a:p>
            <a:pPr>
              <a:spcAft>
                <a:spcPts val="1200"/>
              </a:spcAft>
              <a:defRPr sz="1500">
                <a:solidFill>
                  <a:srgbClr val="CBD5E1"/>
                </a:solidFill>
              </a:defRPr>
            </a:pPr>
            <a:r>
              <a:t>4. Automated SOP: Gemini generates OSHA Lockout/Tagout procedures, required tools, and replacement part SKUs.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05. Quantified Business Impact &amp; ROI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Measurable factory floor efficiency improvements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solidFill>
            <a:srgbClr val="131B2E"/>
          </a:solidFill>
          <a:ln>
            <a:solidFill>
              <a:srgbClr val="23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500">
                <a:solidFill>
                  <a:srgbClr val="CBD5E1"/>
                </a:solidFill>
              </a:defRPr>
            </a:pPr>
            <a:r>
              <a:t>• -32% Reduction in MTTR: Repair times cut from 2.5 hours to 45 minutes via automated SOP dispatches.</a:t>
            </a:r>
          </a:p>
          <a:p>
            <a:pPr>
              <a:spcAft>
                <a:spcPts val="1200"/>
              </a:spcAft>
              <a:defRPr sz="1500">
                <a:solidFill>
                  <a:srgbClr val="CBD5E1"/>
                </a:solidFill>
              </a:defRPr>
            </a:pPr>
            <a:r>
              <a:t>• +14.8% Uplift in OEE: Overall Equipment Effectiveness boosted by preventing catastrophic spindle failures.</a:t>
            </a:r>
          </a:p>
          <a:p>
            <a:pPr>
              <a:spcAft>
                <a:spcPts val="1200"/>
              </a:spcAft>
              <a:defRPr sz="1500">
                <a:solidFill>
                  <a:srgbClr val="CBD5E1"/>
                </a:solidFill>
              </a:defRPr>
            </a:pPr>
            <a:r>
              <a:t>• 96.4% Defect Catch Rate: Gemini Multimodal AOI flags microscopic weld porosity and fatigue cracks.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06. Competitive Differentiation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ApexMfg AI vs Legacy SCADA / CMMS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solidFill>
            <a:srgbClr val="131B2E"/>
          </a:solidFill>
          <a:ln>
            <a:solidFill>
              <a:srgbClr val="23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500">
                <a:solidFill>
                  <a:srgbClr val="CBD5E1"/>
                </a:solidFill>
              </a:defRPr>
            </a:pPr>
            <a:r>
              <a:t>• Diagnosis Latency: Sub-2 second automated Gemini RCA vs hours of manual guesswork.</a:t>
            </a:r>
          </a:p>
          <a:p>
            <a:pPr>
              <a:spcAft>
                <a:spcPts val="1200"/>
              </a:spcAft>
              <a:defRPr sz="1500">
                <a:solidFill>
                  <a:srgbClr val="CBD5E1"/>
                </a:solidFill>
              </a:defRPr>
            </a:pPr>
            <a:r>
              <a:t>• Repair Instructions: Dynamic OSHA LOTO SOP with exact tool &amp; part SKUs vs static binders.</a:t>
            </a:r>
          </a:p>
          <a:p>
            <a:pPr>
              <a:spcAft>
                <a:spcPts val="1200"/>
              </a:spcAft>
              <a:defRPr sz="1500">
                <a:solidFill>
                  <a:srgbClr val="CBD5E1"/>
                </a:solidFill>
              </a:defRPr>
            </a:pPr>
            <a:r>
              <a:t>• Visual Quality: Gemini Multimodal zero-shot defect classification vs brittle rule-based vision.</a:t>
            </a:r>
          </a:p>
          <a:p>
            <a:pPr>
              <a:spcAft>
                <a:spcPts val="1200"/>
              </a:spcAft>
              <a:defRPr sz="1500">
                <a:solidFill>
                  <a:srgbClr val="CBD5E1"/>
                </a:solidFill>
              </a:defRPr>
            </a:pPr>
            <a:r>
              <a:t>• Cloud Architecture: Serverless Cloud Run + Firestore live sync vs costly on-prem servers.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07. Demonstration &amp; Submission Deliverables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Turnkey solution ready for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solidFill>
            <a:srgbClr val="131B2E"/>
          </a:solidFill>
          <a:ln>
            <a:solidFill>
              <a:srgbClr val="23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500">
                <a:solidFill>
                  <a:srgbClr val="CBD5E1"/>
                </a:solidFill>
              </a:defRPr>
            </a:pPr>
            <a:r>
              <a:t>• Deployed Cloud Run Prototype: Live responsive dashboard and API backend.</a:t>
            </a:r>
          </a:p>
          <a:p>
            <a:pPr>
              <a:spcAft>
                <a:spcPts val="1200"/>
              </a:spcAft>
              <a:defRPr sz="1500">
                <a:solidFill>
                  <a:srgbClr val="CBD5E1"/>
                </a:solidFill>
              </a:defRPr>
            </a:pPr>
            <a:r>
              <a:t>• Real-Time Firestore Ledger: Live collections for incidents, work orders, and QA audits.</a:t>
            </a:r>
          </a:p>
          <a:p>
            <a:pPr>
              <a:spcAft>
                <a:spcPts val="1200"/>
              </a:spcAft>
              <a:defRPr sz="1500">
                <a:solidFill>
                  <a:srgbClr val="CBD5E1"/>
                </a:solidFill>
              </a:defRPr>
            </a:pPr>
            <a:r>
              <a:t>• Public GitHub Repository: Fully documented source code, Dockerfile, and deployment scripts.</a:t>
            </a:r>
          </a:p>
          <a:p>
            <a:pPr>
              <a:spcAft>
                <a:spcPts val="1200"/>
              </a:spcAft>
              <a:defRPr sz="1500">
                <a:solidFill>
                  <a:srgbClr val="CBD5E1"/>
                </a:solidFill>
              </a:defRPr>
            </a:pPr>
            <a:r>
              <a:t>• 3-Minute Video Demonstration: Highlighting end-to-end telemetry anomaly simulation and Gemini RCA.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